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01768" y="1051560"/>
            <a:ext cx="2194560" cy="2194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417320"/>
            <a:ext cx="1737360" cy="1303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61188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E6EDF3"/>
                </a:solidFill>
                <a:latin typeface="Calibri"/>
              </a:rPr>
              <a:t>AI Circuit Architect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1772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100" b="0" i="0">
                <a:solidFill>
                  <a:srgbClr val="8B98A5"/>
                </a:solidFill>
                <a:latin typeface="Calibri"/>
              </a:rPr>
              <a:t>From idea to PCB-ready schematic — a society of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4528" y="5440680"/>
            <a:ext cx="3749039" cy="502920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 w="12700">
            <a:solidFill>
              <a:srgbClr val="2D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4528" y="5440680"/>
            <a:ext cx="3749039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4F9CF9"/>
                </a:solidFill>
                <a:latin typeface="Calibri"/>
              </a:rPr>
              <a:t>Qwen Hackathon  ·  Track: Agent Society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6EDF3"/>
                </a:solidFill>
                <a:latin typeface="Calibri"/>
              </a:rPr>
              <a:t>Two heads beat one — and we measured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4F9CF9"/>
                </a:solidFill>
                <a:latin typeface="Calibri"/>
              </a:rPr>
              <a:t>+3.2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971800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B98A5"/>
                </a:solidFill>
                <a:latin typeface="Calibri"/>
              </a:rPr>
              <a:t>more design concerns surfaced than a single LLM — on average, across 5 diverse hard designs (live Qwen).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4937760" cy="457200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4773168" cy="457200"/>
          </a:xfrm>
          <a:prstGeom prst="roundRect">
            <a:avLst>
              <a:gd name="adj" fmla="val 50000"/>
            </a:avLst>
          </a:prstGeom>
          <a:solidFill>
            <a:srgbClr val="4F9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6EDF3"/>
                </a:solidFill>
                <a:latin typeface="Calibri"/>
              </a:rPr>
              <a:t>Multi-agent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4087368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F9CF9"/>
                </a:solidFill>
                <a:latin typeface="Calibri"/>
              </a:rPr>
              <a:t>11.6 /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4937760" cy="457200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3456432" cy="457200"/>
          </a:xfrm>
          <a:prstGeom prst="roundRect">
            <a:avLst>
              <a:gd name="adj" fmla="val 50000"/>
            </a:avLst>
          </a:prstGeom>
          <a:solidFill>
            <a:srgbClr val="8B9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764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6EDF3"/>
                </a:solidFill>
                <a:latin typeface="Calibri"/>
              </a:rPr>
              <a:t>Single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2" y="5093208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B98A5"/>
                </a:solidFill>
                <a:latin typeface="Calibri"/>
              </a:rPr>
              <a:t>8.4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B98A5"/>
                </a:solidFill>
                <a:latin typeface="Calibri"/>
              </a:rPr>
              <a:t>Coverage = engineering concern surfaced as work, scored by a deterministic 12-point rubric.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554480"/>
            <a:ext cx="4983480" cy="43434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12700">
            <a:solidFill>
              <a:srgbClr val="2D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81051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6EDF3"/>
                </a:solidFill>
                <a:latin typeface="Calibri"/>
              </a:rPr>
              <a:t>Per design  ·  coverage delta (multi − single)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42316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DF3"/>
                </a:solidFill>
                <a:latin typeface="Calibri"/>
              </a:rPr>
              <a:t>Motor + safety</a:t>
            </a:r>
          </a:p>
        </p:txBody>
      </p:sp>
      <p:sp>
        <p:nvSpPr>
          <p:cNvPr id="18" name="Oval 17"/>
          <p:cNvSpPr/>
          <p:nvPr/>
        </p:nvSpPr>
        <p:spPr>
          <a:xfrm>
            <a:off x="10515600" y="2441448"/>
            <a:ext cx="420624" cy="420624"/>
          </a:xfrm>
          <a:prstGeom prst="ellipse">
            <a:avLst/>
          </a:prstGeom>
          <a:solidFill>
            <a:srgbClr val="8B9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6EDF3"/>
                </a:solidFill>
                <a:latin typeface="Calibri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06324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DF3"/>
                </a:solidFill>
                <a:latin typeface="Calibri"/>
              </a:rPr>
              <a:t>Precision analog</a:t>
            </a:r>
          </a:p>
        </p:txBody>
      </p:sp>
      <p:sp>
        <p:nvSpPr>
          <p:cNvPr id="20" name="Oval 19"/>
          <p:cNvSpPr/>
          <p:nvPr/>
        </p:nvSpPr>
        <p:spPr>
          <a:xfrm>
            <a:off x="10515600" y="3081528"/>
            <a:ext cx="420624" cy="420624"/>
          </a:xfrm>
          <a:prstGeom prst="ellipse">
            <a:avLst/>
          </a:prstGeom>
          <a:solidFill>
            <a:srgbClr val="8B9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6EDF3"/>
                </a:solidFill>
                <a:latin typeface="Calibri"/>
              </a:rPr>
              <a:t>+2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703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DF3"/>
                </a:solidFill>
                <a:latin typeface="Calibri"/>
              </a:rPr>
              <a:t>Battery IoT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0" y="3721608"/>
            <a:ext cx="420624" cy="420624"/>
          </a:xfrm>
          <a:prstGeom prst="ellipse">
            <a:avLst/>
          </a:prstGeom>
          <a:solidFill>
            <a:srgbClr val="4F9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419"/>
                </a:solidFill>
                <a:latin typeface="Calibri"/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34340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DF3"/>
                </a:solidFill>
                <a:latin typeface="Calibri"/>
              </a:rPr>
              <a:t>Medical wearable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0" y="4361688"/>
            <a:ext cx="420624" cy="420624"/>
          </a:xfrm>
          <a:prstGeom prst="ellipse">
            <a:avLst/>
          </a:prstGeom>
          <a:solidFill>
            <a:srgbClr val="4F9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419"/>
                </a:solidFill>
                <a:latin typeface="Calibri"/>
              </a:rPr>
              <a:t>+5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98348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DF3"/>
                </a:solidFill>
                <a:latin typeface="Calibri"/>
              </a:rPr>
              <a:t>Industrial gateway</a:t>
            </a:r>
          </a:p>
        </p:txBody>
      </p:sp>
      <p:sp>
        <p:nvSpPr>
          <p:cNvPr id="26" name="Oval 25"/>
          <p:cNvSpPr/>
          <p:nvPr/>
        </p:nvSpPr>
        <p:spPr>
          <a:xfrm>
            <a:off x="10515600" y="5001768"/>
            <a:ext cx="420624" cy="420624"/>
          </a:xfrm>
          <a:prstGeom prst="ellipse">
            <a:avLst/>
          </a:prstGeom>
          <a:solidFill>
            <a:srgbClr val="22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E6EDF3"/>
                </a:solidFill>
                <a:latin typeface="Calibri"/>
              </a:rPr>
              <a:t>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669280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F9CF9"/>
                </a:solidFill>
                <a:latin typeface="Calibri"/>
              </a:rPr>
              <a:t>↑  the gap widens with complexity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8A5"/>
                </a:solidFill>
                <a:latin typeface="Calibri"/>
              </a:rPr>
              <a:t>AI Circuit Architect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B98A5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6EDF3"/>
                </a:solidFill>
                <a:latin typeface="Calibri"/>
              </a:rPr>
              <a:t>When agents disagree, the design gets better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72" y="1444752"/>
            <a:ext cx="5111496" cy="4780258"/>
          </a:xfrm>
          <a:prstGeom prst="roundRect">
            <a:avLst>
              <a:gd name="adj" fmla="val 8000"/>
            </a:avLst>
          </a:prstGeom>
          <a:solidFill>
            <a:srgbClr val="222C38"/>
          </a:solidFill>
          <a:ln w="12700">
            <a:solidFill>
              <a:srgbClr val="2D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ciety_rework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640080" y="1508760"/>
            <a:ext cx="4983480" cy="46522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46304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B98A5"/>
                </a:solidFill>
                <a:latin typeface="Calibri"/>
              </a:rPr>
              <a:t>Our system is not a pipeline. The Critic challenges the Architect, who reworks — live, in rounds.</a:t>
            </a:r>
          </a:p>
        </p:txBody>
      </p:sp>
      <p:sp>
        <p:nvSpPr>
          <p:cNvPr id="7" name="Oval 6"/>
          <p:cNvSpPr/>
          <p:nvPr/>
        </p:nvSpPr>
        <p:spPr>
          <a:xfrm>
            <a:off x="6355080" y="2377440"/>
            <a:ext cx="457200" cy="457200"/>
          </a:xfrm>
          <a:prstGeom prst="ellipse">
            <a:avLst/>
          </a:prstGeom>
          <a:solidFill>
            <a:srgbClr val="F7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0F141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3448" y="234086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778BA"/>
                </a:solidFill>
                <a:latin typeface="Calibri"/>
              </a:rPr>
              <a:t>Round 1 — Design Critic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2688336"/>
            <a:ext cx="455371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E6EDF3"/>
                </a:solidFill>
                <a:latin typeface="Calibri"/>
              </a:rPr>
              <a:t>Flags a gap: the Architect's 5 blocks miss a Debug / SWD + status-LED block.</a:t>
            </a:r>
          </a:p>
        </p:txBody>
      </p:sp>
      <p:sp>
        <p:nvSpPr>
          <p:cNvPr id="10" name="Oval 9"/>
          <p:cNvSpPr/>
          <p:nvPr/>
        </p:nvSpPr>
        <p:spPr>
          <a:xfrm>
            <a:off x="6355080" y="3520440"/>
            <a:ext cx="457200" cy="457200"/>
          </a:xfrm>
          <a:prstGeom prst="ellipse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0F141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3448" y="348386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29922"/>
                </a:solidFill>
                <a:latin typeface="Calibri"/>
              </a:rPr>
              <a:t>↺ Rework — System 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3831336"/>
            <a:ext cx="455371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E6EDF3"/>
                </a:solidFill>
                <a:latin typeface="Calibri"/>
              </a:rPr>
              <a:t>Reacts to the critique and revises: adds the Debug block → 6 blocks.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4663440"/>
            <a:ext cx="457200" cy="457200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0F1419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462686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B950"/>
                </a:solidFill>
                <a:latin typeface="Calibri"/>
              </a:rPr>
              <a:t>Round 2 — Design Critic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4974336"/>
            <a:ext cx="455371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E6EDF3"/>
                </a:solidFill>
                <a:latin typeface="Calibri"/>
              </a:rPr>
              <a:t>Re-reviews the revision: no missing blocks remain. Conflict resolved.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585216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4F9CF9"/>
                </a:solidFill>
                <a:latin typeface="Calibri"/>
              </a:rPr>
              <a:t>This negotiation loop — not a single pass — is what raises coverage.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8A5"/>
                </a:solidFill>
                <a:latin typeface="Calibri"/>
              </a:rPr>
              <a:t>AI Circuit Architect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B98A5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