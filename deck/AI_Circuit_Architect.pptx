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01768" y="1051560"/>
            <a:ext cx="2194560" cy="2194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1417320"/>
            <a:ext cx="1737360" cy="13030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611880"/>
            <a:ext cx="10360152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5200" b="1" i="0">
                <a:solidFill>
                  <a:srgbClr val="E6EDF3"/>
                </a:solidFill>
                <a:latin typeface="Calibri"/>
              </a:rPr>
              <a:t>AI Circuit Architect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17720"/>
            <a:ext cx="1036015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8B98A5"/>
                </a:solidFill>
                <a:latin typeface="Calibri"/>
              </a:rPr>
              <a:t>From a plain-English idea to a structured KiCad starting point — designed by a society of agents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24528" y="5486400"/>
            <a:ext cx="3749039" cy="502920"/>
          </a:xfrm>
          <a:prstGeom prst="roundRect">
            <a:avLst>
              <a:gd name="adj" fmla="val 50000"/>
            </a:avLst>
          </a:prstGeom>
          <a:solidFill>
            <a:srgbClr val="222C38"/>
          </a:solidFill>
          <a:ln w="12700">
            <a:solidFill>
              <a:srgbClr val="2D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24528" y="5486400"/>
            <a:ext cx="3749039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4F9CF9"/>
                </a:solidFill>
                <a:latin typeface="Calibri"/>
              </a:rPr>
              <a:t>Qwen Hackathon  ·  Track: Agent Society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6EDF3"/>
                </a:solidFill>
                <a:latin typeface="Calibri"/>
              </a:rPr>
              <a:t>A schematic is slow to start — and one LLM cuts corners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120640" cy="4160520"/>
          </a:xfrm>
          <a:prstGeom prst="roundRect">
            <a:avLst>
              <a:gd name="adj" fmla="val 8000"/>
            </a:avLst>
          </a:prstGeom>
          <a:solidFill>
            <a:srgbClr val="1A212B"/>
          </a:solidFill>
          <a:ln w="12700">
            <a:solidFill>
              <a:srgbClr val="2D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8B98A5"/>
                </a:solidFill>
                <a:latin typeface="Calibri"/>
              </a:rPr>
              <a:t>The manual way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2651760"/>
            <a:ext cx="146304" cy="146304"/>
          </a:xfrm>
          <a:prstGeom prst="ellipse">
            <a:avLst/>
          </a:prstGeom>
          <a:solidFill>
            <a:srgbClr val="2D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E6EDF3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569464"/>
            <a:ext cx="418795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6EDF3"/>
                </a:solidFill>
                <a:latin typeface="Calibri"/>
              </a:rPr>
              <a:t>Blank-page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2898648"/>
            <a:ext cx="4187952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8B98A5"/>
                </a:solidFill>
                <a:latin typeface="Calibri"/>
              </a:rPr>
              <a:t>Turning an idea into a structured KiCad project takes an experienced engineer.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3675888"/>
            <a:ext cx="146304" cy="146304"/>
          </a:xfrm>
          <a:prstGeom prst="ellipse">
            <a:avLst/>
          </a:prstGeom>
          <a:solidFill>
            <a:srgbClr val="2D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E6EDF3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3593592"/>
            <a:ext cx="418795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6EDF3"/>
                </a:solidFill>
                <a:latin typeface="Calibri"/>
              </a:rPr>
              <a:t>Hours before the real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922776"/>
            <a:ext cx="4187952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8B98A5"/>
                </a:solidFill>
                <a:latin typeface="Calibri"/>
              </a:rPr>
              <a:t>Sheet hierarchy, power domains, interfaces — all by hand.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4700016"/>
            <a:ext cx="146304" cy="146304"/>
          </a:xfrm>
          <a:prstGeom prst="ellipse">
            <a:avLst/>
          </a:prstGeom>
          <a:solidFill>
            <a:srgbClr val="2D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E6EDF3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617720"/>
            <a:ext cx="418795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6EDF3"/>
                </a:solidFill>
                <a:latin typeface="Calibri"/>
              </a:rPr>
              <a:t>Easy to forget the boring bits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4946904"/>
            <a:ext cx="4187952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8B98A5"/>
                </a:solidFill>
                <a:latin typeface="Calibri"/>
              </a:rPr>
              <a:t>Protection, debug access, review items slip through under time pressure.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600200"/>
            <a:ext cx="5120640" cy="4160520"/>
          </a:xfrm>
          <a:prstGeom prst="roundRect">
            <a:avLst>
              <a:gd name="adj" fmla="val 8000"/>
            </a:avLst>
          </a:prstGeom>
          <a:solidFill>
            <a:srgbClr val="1A212B"/>
          </a:solidFill>
          <a:ln w="12700">
            <a:solidFill>
              <a:srgbClr val="2D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82880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D29922"/>
                </a:solidFill>
                <a:latin typeface="Calibri"/>
              </a:rPr>
              <a:t>A single LLM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0" y="2651760"/>
            <a:ext cx="146304" cy="146304"/>
          </a:xfrm>
          <a:prstGeom prst="ellipse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E6EDF3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2569464"/>
            <a:ext cx="418795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6EDF3"/>
                </a:solidFill>
                <a:latin typeface="Calibri"/>
              </a:rPr>
              <a:t>Fast, but shallow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2898648"/>
            <a:ext cx="4187952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8B98A5"/>
                </a:solidFill>
                <a:latin typeface="Calibri"/>
              </a:rPr>
              <a:t>One pass gives a plausible answer — and skips the unglamorous essentials.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3675888"/>
            <a:ext cx="146304" cy="146304"/>
          </a:xfrm>
          <a:prstGeom prst="ellipse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E6EDF3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3593592"/>
            <a:ext cx="418795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6EDF3"/>
                </a:solidFill>
                <a:latin typeface="Calibri"/>
              </a:rPr>
              <a:t>Misses safety / review items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3922776"/>
            <a:ext cx="4187952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8B98A5"/>
                </a:solidFill>
                <a:latin typeface="Calibri"/>
              </a:rPr>
              <a:t>Reverse-polarity, overcurrent, reset/clock — gone in 1 of every 2 designs.</a:t>
            </a:r>
          </a:p>
        </p:txBody>
      </p:sp>
      <p:sp>
        <p:nvSpPr>
          <p:cNvPr id="23" name="Oval 22"/>
          <p:cNvSpPr/>
          <p:nvPr/>
        </p:nvSpPr>
        <p:spPr>
          <a:xfrm>
            <a:off x="6766560" y="4700016"/>
            <a:ext cx="146304" cy="146304"/>
          </a:xfrm>
          <a:prstGeom prst="ellipse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E6EDF3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4617720"/>
            <a:ext cx="418795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6EDF3"/>
                </a:solidFill>
                <a:latin typeface="Calibri"/>
              </a:rPr>
              <a:t>No one checks its 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4946904"/>
            <a:ext cx="4187952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8B98A5"/>
                </a:solidFill>
                <a:latin typeface="Calibri"/>
              </a:rPr>
              <a:t>Nothing challenges the first draft or asks what's missing.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8B98A5"/>
                </a:solidFill>
                <a:latin typeface="Calibri"/>
              </a:rPr>
              <a:t>Our take:  a small </a:t>
            </a:r>
            <a:r>
              <a:rPr sz="1500" b="1" i="0">
                <a:solidFill>
                  <a:srgbClr val="4F9CF9"/>
                </a:solidFill>
                <a:latin typeface="Calibri"/>
              </a:rPr>
              <a:t>team of agents that argue</a:t>
            </a:r>
            <a:r>
              <a:rPr sz="1500" b="0" i="0">
                <a:solidFill>
                  <a:srgbClr val="8B98A5"/>
                </a:solidFill>
                <a:latin typeface="Calibri"/>
              </a:rPr>
              <a:t> → a structured, reviewed starting point you finish in KiCad.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B98A5"/>
                </a:solidFill>
                <a:latin typeface="Calibri"/>
              </a:rPr>
              <a:t>AI Circuit Architect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B98A5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6EDF3"/>
                </a:solidFill>
                <a:latin typeface="Calibri"/>
              </a:rPr>
              <a:t>Two heads beat one — and we measured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4F9CF9"/>
                </a:solidFill>
                <a:latin typeface="Calibri"/>
              </a:rPr>
              <a:t>+3.2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971800"/>
            <a:ext cx="53949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8B98A5"/>
                </a:solidFill>
                <a:latin typeface="Calibri"/>
              </a:rPr>
              <a:t>more design concerns surfaced than a single LLM — on average, across 5 diverse hard designs (live Qwen).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69080"/>
            <a:ext cx="4937760" cy="457200"/>
          </a:xfrm>
          <a:prstGeom prst="roundRect">
            <a:avLst>
              <a:gd name="adj" fmla="val 50000"/>
            </a:avLst>
          </a:prstGeom>
          <a:solidFill>
            <a:srgbClr val="22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069080"/>
            <a:ext cx="4773168" cy="457200"/>
          </a:xfrm>
          <a:prstGeom prst="roundRect">
            <a:avLst>
              <a:gd name="adj" fmla="val 50000"/>
            </a:avLst>
          </a:prstGeom>
          <a:solidFill>
            <a:srgbClr val="4F9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75818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6EDF3"/>
                </a:solidFill>
                <a:latin typeface="Calibri"/>
              </a:rPr>
              <a:t>Multi-agent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6128" y="4087368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F9CF9"/>
                </a:solidFill>
                <a:latin typeface="Calibri"/>
              </a:rPr>
              <a:t>11.6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74920"/>
            <a:ext cx="4937760" cy="457200"/>
          </a:xfrm>
          <a:prstGeom prst="roundRect">
            <a:avLst>
              <a:gd name="adj" fmla="val 50000"/>
            </a:avLst>
          </a:prstGeom>
          <a:solidFill>
            <a:srgbClr val="22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5074920"/>
            <a:ext cx="3456432" cy="457200"/>
          </a:xfrm>
          <a:prstGeom prst="roundRect">
            <a:avLst>
              <a:gd name="adj" fmla="val 50000"/>
            </a:avLst>
          </a:prstGeom>
          <a:solidFill>
            <a:srgbClr val="8B9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76402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6EDF3"/>
                </a:solidFill>
                <a:latin typeface="Calibri"/>
              </a:rPr>
              <a:t>Single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9392" y="5093208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B98A5"/>
                </a:solidFill>
                <a:latin typeface="Calibri"/>
              </a:rPr>
              <a:t>8.4 /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1">
                <a:solidFill>
                  <a:srgbClr val="8B98A5"/>
                </a:solidFill>
                <a:latin typeface="Calibri"/>
              </a:rPr>
              <a:t>Coverage = engineering concern surfaced as work, scored by a deterministic 12-point rubric.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1554480"/>
            <a:ext cx="4983480" cy="4343400"/>
          </a:xfrm>
          <a:prstGeom prst="roundRect">
            <a:avLst>
              <a:gd name="adj" fmla="val 8000"/>
            </a:avLst>
          </a:prstGeom>
          <a:solidFill>
            <a:srgbClr val="1A212B"/>
          </a:solidFill>
          <a:ln w="12700">
            <a:solidFill>
              <a:srgbClr val="2D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1810512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6EDF3"/>
                </a:solidFill>
                <a:latin typeface="Calibri"/>
              </a:rPr>
              <a:t>Per design  ·  coverage delta (multi − single)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42316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6EDF3"/>
                </a:solidFill>
                <a:latin typeface="Calibri"/>
              </a:rPr>
              <a:t>Motor + safety</a:t>
            </a:r>
          </a:p>
        </p:txBody>
      </p:sp>
      <p:sp>
        <p:nvSpPr>
          <p:cNvPr id="18" name="Oval 17"/>
          <p:cNvSpPr/>
          <p:nvPr/>
        </p:nvSpPr>
        <p:spPr>
          <a:xfrm>
            <a:off x="10515600" y="2441448"/>
            <a:ext cx="420624" cy="420624"/>
          </a:xfrm>
          <a:prstGeom prst="ellipse">
            <a:avLst/>
          </a:prstGeom>
          <a:solidFill>
            <a:srgbClr val="8B9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E6EDF3"/>
                </a:solidFill>
                <a:latin typeface="Calibri"/>
              </a:rPr>
              <a:t>+2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06324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6EDF3"/>
                </a:solidFill>
                <a:latin typeface="Calibri"/>
              </a:rPr>
              <a:t>Precision analog</a:t>
            </a:r>
          </a:p>
        </p:txBody>
      </p:sp>
      <p:sp>
        <p:nvSpPr>
          <p:cNvPr id="20" name="Oval 19"/>
          <p:cNvSpPr/>
          <p:nvPr/>
        </p:nvSpPr>
        <p:spPr>
          <a:xfrm>
            <a:off x="10515600" y="3081528"/>
            <a:ext cx="420624" cy="420624"/>
          </a:xfrm>
          <a:prstGeom prst="ellipse">
            <a:avLst/>
          </a:prstGeom>
          <a:solidFill>
            <a:srgbClr val="8B9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E6EDF3"/>
                </a:solidFill>
                <a:latin typeface="Calibri"/>
              </a:rPr>
              <a:t>+2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70332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6EDF3"/>
                </a:solidFill>
                <a:latin typeface="Calibri"/>
              </a:rPr>
              <a:t>Battery IoT</a:t>
            </a:r>
          </a:p>
        </p:txBody>
      </p:sp>
      <p:sp>
        <p:nvSpPr>
          <p:cNvPr id="22" name="Oval 21"/>
          <p:cNvSpPr/>
          <p:nvPr/>
        </p:nvSpPr>
        <p:spPr>
          <a:xfrm>
            <a:off x="10515600" y="3721608"/>
            <a:ext cx="420624" cy="420624"/>
          </a:xfrm>
          <a:prstGeom prst="ellipse">
            <a:avLst/>
          </a:prstGeom>
          <a:solidFill>
            <a:srgbClr val="4F9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0F1419"/>
                </a:solidFill>
                <a:latin typeface="Calibri"/>
              </a:rPr>
              <a:t>+4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434340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6EDF3"/>
                </a:solidFill>
                <a:latin typeface="Calibri"/>
              </a:rPr>
              <a:t>Medical wearable</a:t>
            </a:r>
          </a:p>
        </p:txBody>
      </p:sp>
      <p:sp>
        <p:nvSpPr>
          <p:cNvPr id="24" name="Oval 23"/>
          <p:cNvSpPr/>
          <p:nvPr/>
        </p:nvSpPr>
        <p:spPr>
          <a:xfrm>
            <a:off x="10515600" y="4361688"/>
            <a:ext cx="420624" cy="420624"/>
          </a:xfrm>
          <a:prstGeom prst="ellipse">
            <a:avLst/>
          </a:prstGeom>
          <a:solidFill>
            <a:srgbClr val="4F9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0F1419"/>
                </a:solidFill>
                <a:latin typeface="Calibri"/>
              </a:rPr>
              <a:t>+5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98348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6EDF3"/>
                </a:solidFill>
                <a:latin typeface="Calibri"/>
              </a:rPr>
              <a:t>Industrial gateway</a:t>
            </a:r>
          </a:p>
        </p:txBody>
      </p:sp>
      <p:sp>
        <p:nvSpPr>
          <p:cNvPr id="26" name="Oval 25"/>
          <p:cNvSpPr/>
          <p:nvPr/>
        </p:nvSpPr>
        <p:spPr>
          <a:xfrm>
            <a:off x="10515600" y="5001768"/>
            <a:ext cx="420624" cy="420624"/>
          </a:xfrm>
          <a:prstGeom prst="ellipse">
            <a:avLst/>
          </a:prstGeom>
          <a:solidFill>
            <a:srgbClr val="22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E6EDF3"/>
                </a:solidFill>
                <a:latin typeface="Calibri"/>
              </a:rPr>
              <a:t>+3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5669280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F9CF9"/>
                </a:solidFill>
                <a:latin typeface="Calibri"/>
              </a:rPr>
              <a:t>↑  the gap widens with complexity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3737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B98A5"/>
                </a:solidFill>
                <a:latin typeface="Calibri"/>
              </a:rPr>
              <a:t>AI Circuit Architect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B98A5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6EDF3"/>
                </a:solidFill>
                <a:latin typeface="Calibri"/>
              </a:rPr>
              <a:t>A team, not a prompt — six specialist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8B98A5"/>
                </a:solidFill>
                <a:latin typeface="Calibri"/>
              </a:rPr>
              <a:t>Each stage has one job and its own model tier. Work hands off left to right; reviewers can send it back.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286000"/>
            <a:ext cx="1627632" cy="2331720"/>
          </a:xfrm>
          <a:prstGeom prst="roundRect">
            <a:avLst>
              <a:gd name="adj" fmla="val 8000"/>
            </a:avLst>
          </a:prstGeom>
          <a:solidFill>
            <a:srgbClr val="1A212B"/>
          </a:solidFill>
          <a:ln w="12700">
            <a:solidFill>
              <a:srgbClr val="2D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6696" y="2606040"/>
            <a:ext cx="768096" cy="768096"/>
          </a:xfrm>
          <a:prstGeom prst="ellipse">
            <a:avLst/>
          </a:prstGeom>
          <a:solidFill>
            <a:srgbClr val="4F9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0F1419"/>
                </a:solidFill>
                <a:latin typeface="Calibri"/>
              </a:rPr>
              <a:t>RQ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3566160"/>
            <a:ext cx="153619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1450" b="1" i="0">
                <a:solidFill>
                  <a:srgbClr val="E6EDF3"/>
                </a:solidFill>
                <a:latin typeface="Calibri"/>
              </a:rPr>
              <a:t>Requirements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" y="4114800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222C38"/>
          </a:solidFill>
          <a:ln w="12700">
            <a:solidFill>
              <a:srgbClr val="2D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4114800"/>
            <a:ext cx="1133856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4F9CF9"/>
                </a:solidFill>
                <a:latin typeface="Calibri"/>
              </a:rPr>
              <a:t>qwen-plus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6272" y="283464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8B98A5"/>
                </a:solidFill>
                <a:latin typeface="Calibr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50592" y="2286000"/>
            <a:ext cx="1627632" cy="2331720"/>
          </a:xfrm>
          <a:prstGeom prst="roundRect">
            <a:avLst>
              <a:gd name="adj" fmla="val 8000"/>
            </a:avLst>
          </a:prstGeom>
          <a:solidFill>
            <a:srgbClr val="1A212B"/>
          </a:solidFill>
          <a:ln w="12700">
            <a:solidFill>
              <a:srgbClr val="2D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80360" y="2606040"/>
            <a:ext cx="768096" cy="768096"/>
          </a:xfrm>
          <a:prstGeom prst="ellipse">
            <a:avLst/>
          </a:prstGeom>
          <a:solidFill>
            <a:srgbClr val="4F9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0F1419"/>
                </a:solidFill>
                <a:latin typeface="Calibri"/>
              </a:rPr>
              <a:t>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96312" y="3566160"/>
            <a:ext cx="153619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1450" b="1" i="0">
                <a:solidFill>
                  <a:srgbClr val="E6EDF3"/>
                </a:solidFill>
                <a:latin typeface="Calibri"/>
              </a:rPr>
              <a:t>Architect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4114800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222C38"/>
          </a:solidFill>
          <a:ln w="12700">
            <a:solidFill>
              <a:srgbClr val="2D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4114800"/>
            <a:ext cx="1133856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4F9CF9"/>
                </a:solidFill>
                <a:latin typeface="Calibri"/>
              </a:rPr>
              <a:t>qwen-plus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9936" y="283464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8B98A5"/>
                </a:solidFill>
                <a:latin typeface="Calibr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256" y="2286000"/>
            <a:ext cx="1627632" cy="2331720"/>
          </a:xfrm>
          <a:prstGeom prst="roundRect">
            <a:avLst>
              <a:gd name="adj" fmla="val 8000"/>
            </a:avLst>
          </a:prstGeom>
          <a:solidFill>
            <a:srgbClr val="1A212B"/>
          </a:solidFill>
          <a:ln w="12700">
            <a:solidFill>
              <a:srgbClr val="2D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764024" y="2606040"/>
            <a:ext cx="768096" cy="768096"/>
          </a:xfrm>
          <a:prstGeom prst="ellipse">
            <a:avLst/>
          </a:prstGeom>
          <a:solidFill>
            <a:srgbClr val="F77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0F1419"/>
                </a:solidFill>
                <a:latin typeface="Calibri"/>
              </a:rPr>
              <a:t>DC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9976" y="3566160"/>
            <a:ext cx="153619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1450" b="1" i="0">
                <a:solidFill>
                  <a:srgbClr val="E6EDF3"/>
                </a:solidFill>
                <a:latin typeface="Calibri"/>
              </a:rPr>
              <a:t>Design Critic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81144" y="4114800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222C38"/>
          </a:solidFill>
          <a:ln w="12700">
            <a:solidFill>
              <a:srgbClr val="2D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1144" y="4114800"/>
            <a:ext cx="1133856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778BA"/>
                </a:solidFill>
                <a:latin typeface="Calibri"/>
              </a:rPr>
              <a:t>qwen-max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8B98A5"/>
                </a:solidFill>
                <a:latin typeface="Calibr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286000"/>
            <a:ext cx="1627632" cy="2331720"/>
          </a:xfrm>
          <a:prstGeom prst="roundRect">
            <a:avLst>
              <a:gd name="adj" fmla="val 8000"/>
            </a:avLst>
          </a:prstGeom>
          <a:solidFill>
            <a:srgbClr val="1A212B"/>
          </a:solidFill>
          <a:ln w="12700">
            <a:solidFill>
              <a:srgbClr val="2D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47688" y="2606040"/>
            <a:ext cx="768096" cy="768096"/>
          </a:xfrm>
          <a:prstGeom prst="ellipse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0F1419"/>
                </a:solidFill>
                <a:latin typeface="Calibri"/>
              </a:rPr>
              <a:t>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566160"/>
            <a:ext cx="153619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1450" b="1" i="0">
                <a:solidFill>
                  <a:srgbClr val="E6EDF3"/>
                </a:solidFill>
                <a:latin typeface="Calibri"/>
              </a:rPr>
              <a:t>Arbitration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64808" y="4114800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222C38"/>
          </a:solidFill>
          <a:ln w="12700">
            <a:solidFill>
              <a:srgbClr val="2D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4808" y="4114800"/>
            <a:ext cx="1133856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778BA"/>
                </a:solidFill>
                <a:latin typeface="Calibri"/>
              </a:rPr>
              <a:t>qwen-max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27264" y="283464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8B98A5"/>
                </a:solidFill>
                <a:latin typeface="Calibr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01583" y="2286000"/>
            <a:ext cx="1627632" cy="2331720"/>
          </a:xfrm>
          <a:prstGeom prst="roundRect">
            <a:avLst>
              <a:gd name="adj" fmla="val 8000"/>
            </a:avLst>
          </a:prstGeom>
          <a:solidFill>
            <a:srgbClr val="1A212B"/>
          </a:solidFill>
          <a:ln w="12700">
            <a:solidFill>
              <a:srgbClr val="2D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31351" y="2606040"/>
            <a:ext cx="768096" cy="76809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0F1419"/>
                </a:solidFill>
                <a:latin typeface="Calibri"/>
              </a:rPr>
              <a:t>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47303" y="3566160"/>
            <a:ext cx="153619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1450" b="1" i="0">
                <a:solidFill>
                  <a:srgbClr val="E6EDF3"/>
                </a:solidFill>
                <a:latin typeface="Calibri"/>
              </a:rPr>
              <a:t>PCB Engineer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48471" y="4114800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222C38"/>
          </a:solidFill>
          <a:ln w="12700">
            <a:solidFill>
              <a:srgbClr val="2D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48471" y="4114800"/>
            <a:ext cx="1133856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4F9CF9"/>
                </a:solidFill>
                <a:latin typeface="Calibri"/>
              </a:rPr>
              <a:t>qwen-plus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0927" y="283464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8B98A5"/>
                </a:solidFill>
                <a:latin typeface="Calibri"/>
              </a:rP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85248" y="2286000"/>
            <a:ext cx="1627632" cy="2331720"/>
          </a:xfrm>
          <a:prstGeom prst="roundRect">
            <a:avLst>
              <a:gd name="adj" fmla="val 8000"/>
            </a:avLst>
          </a:prstGeom>
          <a:solidFill>
            <a:srgbClr val="1A212B"/>
          </a:solidFill>
          <a:ln w="12700">
            <a:solidFill>
              <a:srgbClr val="2D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5016" y="2606040"/>
            <a:ext cx="768096" cy="768096"/>
          </a:xfrm>
          <a:prstGeom prst="ellipse">
            <a:avLst/>
          </a:prstGeom>
          <a:solidFill>
            <a:srgbClr val="F77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0F1419"/>
                </a:solidFill>
                <a:latin typeface="Calibri"/>
              </a:rPr>
              <a:t>PC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30968" y="3566160"/>
            <a:ext cx="153619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1450" b="1" i="0">
                <a:solidFill>
                  <a:srgbClr val="E6EDF3"/>
                </a:solidFill>
                <a:latin typeface="Calibri"/>
              </a:rPr>
              <a:t>PCB Critic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32136" y="4114800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222C38"/>
          </a:solidFill>
          <a:ln w="12700">
            <a:solidFill>
              <a:srgbClr val="2D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32136" y="4114800"/>
            <a:ext cx="1133856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778BA"/>
                </a:solidFill>
                <a:latin typeface="Calibri"/>
              </a:rPr>
              <a:t>qwen-max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074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8B98A5"/>
                </a:solidFill>
                <a:latin typeface="Calibri"/>
              </a:rPr>
              <a:t>Juniors (qwen-plus) propose; </a:t>
            </a:r>
            <a:r>
              <a:rPr sz="1500" b="1" i="0">
                <a:solidFill>
                  <a:srgbClr val="E6EDF3"/>
                </a:solidFill>
                <a:latin typeface="Calibri"/>
              </a:rPr>
              <a:t>senior reviewers (qwen-max) hold them to account — and demand rework.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8B98A5"/>
                </a:solidFill>
                <a:latin typeface="Calibri"/>
              </a:rPr>
              <a:t>A stateless orchestrator coordinates them; you can run it one-click or sign off each stage.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43737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B98A5"/>
                </a:solidFill>
                <a:latin typeface="Calibri"/>
              </a:rPr>
              <a:t>AI Circuit Architect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7040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B98A5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6EDF3"/>
                </a:solidFill>
                <a:latin typeface="Calibri"/>
              </a:rPr>
              <a:t>When agents disagree, the design gets better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075688"/>
            <a:ext cx="5632704" cy="2194998"/>
          </a:xfrm>
          <a:prstGeom prst="roundRect">
            <a:avLst>
              <a:gd name="adj" fmla="val 8000"/>
            </a:avLst>
          </a:prstGeom>
          <a:solidFill>
            <a:srgbClr val="222C38"/>
          </a:solidFill>
          <a:ln w="12700">
            <a:solidFill>
              <a:srgbClr val="2D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ociety_rework.png"/>
          <p:cNvPicPr>
            <a:picLocks noChangeAspect="1"/>
          </p:cNvPicPr>
          <p:nvPr/>
        </p:nvPicPr>
        <p:blipFill>
          <a:blip r:embed="rId2"/>
          <a:srcRect t="6000" b="70000"/>
          <a:stretch>
            <a:fillRect/>
          </a:stretch>
        </p:blipFill>
        <p:spPr>
          <a:xfrm>
            <a:off x="640080" y="2148840"/>
            <a:ext cx="5486400" cy="20486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" y="439870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8B98A5"/>
                </a:solidFill>
                <a:latin typeface="Calibri"/>
              </a:rPr>
              <a:t>Live Agent-Society view  ·  the Critic → Architect rework 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463040"/>
            <a:ext cx="52120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8B98A5"/>
                </a:solidFill>
                <a:latin typeface="Calibri"/>
              </a:rPr>
              <a:t>Our system is not a pipeline. The Critic challenges the Architect, who reworks — live, in rounds.</a:t>
            </a:r>
          </a:p>
        </p:txBody>
      </p:sp>
      <p:sp>
        <p:nvSpPr>
          <p:cNvPr id="8" name="Oval 7"/>
          <p:cNvSpPr/>
          <p:nvPr/>
        </p:nvSpPr>
        <p:spPr>
          <a:xfrm>
            <a:off x="6355080" y="2377440"/>
            <a:ext cx="457200" cy="457200"/>
          </a:xfrm>
          <a:prstGeom prst="ellipse">
            <a:avLst/>
          </a:prstGeom>
          <a:solidFill>
            <a:srgbClr val="F77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0F1419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3448" y="2340864"/>
            <a:ext cx="455371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778BA"/>
                </a:solidFill>
                <a:latin typeface="Calibri"/>
              </a:rPr>
              <a:t>Round 1 — Design Critic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3448" y="2688336"/>
            <a:ext cx="4553712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E6EDF3"/>
                </a:solidFill>
                <a:latin typeface="Calibri"/>
              </a:rPr>
              <a:t>Flags a gap: the Architect's 5 blocks miss a Debug / SWD + status-LED block.</a:t>
            </a:r>
          </a:p>
        </p:txBody>
      </p:sp>
      <p:sp>
        <p:nvSpPr>
          <p:cNvPr id="11" name="Oval 10"/>
          <p:cNvSpPr/>
          <p:nvPr/>
        </p:nvSpPr>
        <p:spPr>
          <a:xfrm>
            <a:off x="6355080" y="3474720"/>
            <a:ext cx="457200" cy="457200"/>
          </a:xfrm>
          <a:prstGeom prst="ellipse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0F1419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3448" y="3438144"/>
            <a:ext cx="455371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29922"/>
                </a:solidFill>
                <a:latin typeface="Calibri"/>
              </a:rPr>
              <a:t>↺ Rework — System Architect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3448" y="3785616"/>
            <a:ext cx="4553712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E6EDF3"/>
                </a:solidFill>
                <a:latin typeface="Calibri"/>
              </a:rPr>
              <a:t>Reacts to the critique and revises: adds the Debug block → 6 blocks.</a:t>
            </a:r>
          </a:p>
        </p:txBody>
      </p:sp>
      <p:sp>
        <p:nvSpPr>
          <p:cNvPr id="14" name="Oval 13"/>
          <p:cNvSpPr/>
          <p:nvPr/>
        </p:nvSpPr>
        <p:spPr>
          <a:xfrm>
            <a:off x="6355080" y="4572000"/>
            <a:ext cx="457200" cy="457200"/>
          </a:xfrm>
          <a:prstGeom prst="ellipse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0F1419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4535424"/>
            <a:ext cx="455371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FB950"/>
                </a:solidFill>
                <a:latin typeface="Calibri"/>
              </a:rPr>
              <a:t>Round 2 — Design Critic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3448" y="4882896"/>
            <a:ext cx="4553712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E6EDF3"/>
                </a:solidFill>
                <a:latin typeface="Calibri"/>
              </a:rPr>
              <a:t>Re-reviews the revision: no missing blocks remain. Conflict resolved.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5715000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0" i="1">
                <a:solidFill>
                  <a:srgbClr val="4F9CF9"/>
                </a:solidFill>
                <a:latin typeface="Calibri"/>
              </a:rPr>
              <a:t>This negotiation loop — not a single pass — is what raises coverage.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3737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B98A5"/>
                </a:solidFill>
                <a:latin typeface="Calibri"/>
              </a:rPr>
              <a:t>AI Circuit Architect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B98A5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6EDF3"/>
                </a:solidFill>
                <a:latin typeface="Calibri"/>
              </a:rPr>
              <a:t>Measured on a deterministic rubric — not vibes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8B98A5"/>
                </a:solidFill>
                <a:latin typeface="Calibri"/>
              </a:rPr>
              <a:t>One 12-point engineering rubric scores both teams the same way — no LLM judging itself.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6583680" cy="3886200"/>
          </a:xfrm>
          <a:prstGeom prst="roundRect">
            <a:avLst>
              <a:gd name="adj" fmla="val 8000"/>
            </a:avLst>
          </a:prstGeom>
          <a:solidFill>
            <a:srgbClr val="1A212B"/>
          </a:solidFill>
          <a:ln w="12700">
            <a:solidFill>
              <a:srgbClr val="2D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6EDF3"/>
                </a:solidFill>
                <a:latin typeface="Calibri"/>
              </a:rPr>
              <a:t>What a single agent most often skipped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70048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8B98A5"/>
                </a:solidFill>
                <a:latin typeface="Calibri"/>
              </a:rPr>
              <a:t>across the 5 live designs — caught by the Critic / Arbitration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475488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6EDF3"/>
                </a:solidFill>
                <a:latin typeface="Calibri"/>
              </a:rPr>
              <a:t>Reverse-polarity protection</a:t>
            </a:r>
          </a:p>
        </p:txBody>
      </p:sp>
      <p:sp>
        <p:nvSpPr>
          <p:cNvPr id="9" name="Oval 8"/>
          <p:cNvSpPr/>
          <p:nvPr/>
        </p:nvSpPr>
        <p:spPr>
          <a:xfrm>
            <a:off x="6172200" y="3218688"/>
            <a:ext cx="402336" cy="402336"/>
          </a:xfrm>
          <a:prstGeom prst="ellipse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F1419"/>
                </a:solidFill>
                <a:latin typeface="Calibri"/>
              </a:rPr>
              <a:t>5×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12464"/>
            <a:ext cx="475488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6EDF3"/>
                </a:solidFill>
                <a:latin typeface="Calibri"/>
              </a:rPr>
              <a:t>Overcurrent / fuse protection</a:t>
            </a:r>
          </a:p>
        </p:txBody>
      </p:sp>
      <p:sp>
        <p:nvSpPr>
          <p:cNvPr id="11" name="Oval 10"/>
          <p:cNvSpPr/>
          <p:nvPr/>
        </p:nvSpPr>
        <p:spPr>
          <a:xfrm>
            <a:off x="6172200" y="3730752"/>
            <a:ext cx="402336" cy="402336"/>
          </a:xfrm>
          <a:prstGeom prst="ellipse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F1419"/>
                </a:solidFill>
                <a:latin typeface="Calibri"/>
              </a:rPr>
              <a:t>4×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24528"/>
            <a:ext cx="475488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6EDF3"/>
                </a:solidFill>
                <a:latin typeface="Calibri"/>
              </a:rPr>
              <a:t>Docs &amp; explicit uncertainty</a:t>
            </a:r>
          </a:p>
        </p:txBody>
      </p:sp>
      <p:sp>
        <p:nvSpPr>
          <p:cNvPr id="13" name="Oval 12"/>
          <p:cNvSpPr/>
          <p:nvPr/>
        </p:nvSpPr>
        <p:spPr>
          <a:xfrm>
            <a:off x="6172200" y="4242816"/>
            <a:ext cx="402336" cy="402336"/>
          </a:xfrm>
          <a:prstGeom prst="ellipse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F1419"/>
                </a:solidFill>
                <a:latin typeface="Calibri"/>
              </a:rPr>
              <a:t>3×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36592"/>
            <a:ext cx="475488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6EDF3"/>
                </a:solidFill>
                <a:latin typeface="Calibri"/>
              </a:rPr>
              <a:t>Surge / ESD on power input</a:t>
            </a:r>
          </a:p>
        </p:txBody>
      </p:sp>
      <p:sp>
        <p:nvSpPr>
          <p:cNvPr id="15" name="Oval 14"/>
          <p:cNvSpPr/>
          <p:nvPr/>
        </p:nvSpPr>
        <p:spPr>
          <a:xfrm>
            <a:off x="6172200" y="4754880"/>
            <a:ext cx="402336" cy="402336"/>
          </a:xfrm>
          <a:prstGeom prst="ellipse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F1419"/>
                </a:solidFill>
                <a:latin typeface="Calibri"/>
              </a:rPr>
              <a:t>2×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48656"/>
            <a:ext cx="475488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6EDF3"/>
                </a:solidFill>
                <a:latin typeface="Calibri"/>
              </a:rPr>
              <a:t>Clock source</a:t>
            </a:r>
          </a:p>
        </p:txBody>
      </p:sp>
      <p:sp>
        <p:nvSpPr>
          <p:cNvPr id="17" name="Oval 16"/>
          <p:cNvSpPr/>
          <p:nvPr/>
        </p:nvSpPr>
        <p:spPr>
          <a:xfrm>
            <a:off x="6172200" y="5266944"/>
            <a:ext cx="402336" cy="402336"/>
          </a:xfrm>
          <a:prstGeom prst="ellipse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F1419"/>
                </a:solidFill>
                <a:latin typeface="Calibri"/>
              </a:rPr>
              <a:t>2×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2011680"/>
            <a:ext cx="4023360" cy="3886200"/>
          </a:xfrm>
          <a:prstGeom prst="roundRect">
            <a:avLst>
              <a:gd name="adj" fmla="val 8000"/>
            </a:avLst>
          </a:prstGeom>
          <a:solidFill>
            <a:srgbClr val="222C38"/>
          </a:solidFill>
          <a:ln w="12700">
            <a:solidFill>
              <a:srgbClr val="2D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60" y="228600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6EDF3"/>
                </a:solidFill>
                <a:latin typeface="Calibri"/>
              </a:rPr>
              <a:t>Average coverage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288036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4F9CF9"/>
                </a:solidFill>
                <a:latin typeface="Calibri"/>
              </a:rPr>
              <a:t>11.6</a:t>
            </a:r>
            <a:r>
              <a:rPr sz="1600" b="0" i="0">
                <a:solidFill>
                  <a:srgbClr val="8B98A5"/>
                </a:solidFill>
                <a:latin typeface="Calibri"/>
              </a:rPr>
              <a:t> / 12   multi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370332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8B98A5"/>
                </a:solidFill>
                <a:latin typeface="Calibri"/>
              </a:rPr>
              <a:t>8.4</a:t>
            </a:r>
            <a:r>
              <a:rPr sz="1600" b="0" i="0">
                <a:solidFill>
                  <a:srgbClr val="8B98A5"/>
                </a:solidFill>
                <a:latin typeface="Calibri"/>
              </a:rPr>
              <a:t> / 12   single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466344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E6EDF3"/>
                </a:solidFill>
                <a:latin typeface="Calibri"/>
              </a:rPr>
              <a:t>The team's edge isn't cleverness — it's the review step that refuses to forget the unglamorous essentials.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3737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B98A5"/>
                </a:solidFill>
                <a:latin typeface="Calibri"/>
              </a:rPr>
              <a:t>AI Circuit Architect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B98A5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6EDF3"/>
                </a:solidFill>
                <a:latin typeface="Calibri"/>
              </a:rPr>
              <a:t>What you actually get — a structured KiCad start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5806440" cy="4343400"/>
          </a:xfrm>
          <a:prstGeom prst="roundRect">
            <a:avLst>
              <a:gd name="adj" fmla="val 8000"/>
            </a:avLst>
          </a:prstGeom>
          <a:solidFill>
            <a:srgbClr val="222C38"/>
          </a:solidFill>
          <a:ln w="12700">
            <a:solidFill>
              <a:srgbClr val="2D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hematic.png"/>
          <p:cNvPicPr>
            <a:picLocks noChangeAspect="1"/>
          </p:cNvPicPr>
          <p:nvPr/>
        </p:nvPicPr>
        <p:blipFill>
          <a:blip r:embed="rId2"/>
          <a:srcRect l="3000" t="2000" r="3000" b="3000"/>
          <a:stretch>
            <a:fillRect/>
          </a:stretch>
        </p:blipFill>
        <p:spPr>
          <a:xfrm>
            <a:off x="640080" y="1508760"/>
            <a:ext cx="580644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169164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1A212B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3FB950"/>
                </a:solidFill>
                <a:latin typeface="Calibri"/>
              </a:rPr>
              <a:t>✓  Opens in KiCad 10 · structural ERC clean</a:t>
            </a:r>
          </a:p>
        </p:txBody>
      </p:sp>
      <p:sp>
        <p:nvSpPr>
          <p:cNvPr id="8" name="Oval 7"/>
          <p:cNvSpPr/>
          <p:nvPr/>
        </p:nvSpPr>
        <p:spPr>
          <a:xfrm>
            <a:off x="6766560" y="1837944"/>
            <a:ext cx="164592" cy="164592"/>
          </a:xfrm>
          <a:prstGeom prst="ellipse">
            <a:avLst/>
          </a:prstGeom>
          <a:solidFill>
            <a:srgbClr val="4F9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E6EDF3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95744" y="1746504"/>
            <a:ext cx="447141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E6EDF3"/>
                </a:solidFill>
                <a:latin typeface="Calibri"/>
              </a:rPr>
              <a:t>Hierarchical KiCad scaffold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95744" y="2112264"/>
            <a:ext cx="4471416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8B98A5"/>
                </a:solidFill>
                <a:latin typeface="Calibri"/>
              </a:rPr>
              <a:t>Sheets, power-port symbols, sheet pins and an embedded block diagram — opens &amp; passes structural checks.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0" y="3008376"/>
            <a:ext cx="164592" cy="164592"/>
          </a:xfrm>
          <a:prstGeom prst="ellipse">
            <a:avLst/>
          </a:prstGeom>
          <a:solidFill>
            <a:srgbClr val="4F9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E6EDF3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95744" y="2916936"/>
            <a:ext cx="447141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E6EDF3"/>
                </a:solidFill>
                <a:latin typeface="Calibri"/>
              </a:rPr>
              <a:t>PCB-readiness pack (prep)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95744" y="3282696"/>
            <a:ext cx="4471416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8B98A5"/>
                </a:solidFill>
                <a:latin typeface="Calibri"/>
              </a:rPr>
              <a:t>Net classes, constraints (.kicad_dru), candidate parts, floorplan zones, a DFT/DFM checklist.</a:t>
            </a:r>
          </a:p>
        </p:txBody>
      </p:sp>
      <p:sp>
        <p:nvSpPr>
          <p:cNvPr id="14" name="Oval 13"/>
          <p:cNvSpPr/>
          <p:nvPr/>
        </p:nvSpPr>
        <p:spPr>
          <a:xfrm>
            <a:off x="6766560" y="4178808"/>
            <a:ext cx="164592" cy="164592"/>
          </a:xfrm>
          <a:prstGeom prst="ellipse">
            <a:avLst/>
          </a:prstGeom>
          <a:solidFill>
            <a:srgbClr val="4F9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E6EDF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5744" y="4087368"/>
            <a:ext cx="447141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E6EDF3"/>
                </a:solidFill>
                <a:latin typeface="Calibri"/>
              </a:rPr>
              <a:t>PDF report + KiCad ZIP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95744" y="4453128"/>
            <a:ext cx="4471416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8B98A5"/>
                </a:solidFill>
                <a:latin typeface="Calibri"/>
              </a:rPr>
              <a:t>A shareable report and the full project, downloadable in one click.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5212080"/>
            <a:ext cx="4800600" cy="868680"/>
          </a:xfrm>
          <a:prstGeom prst="roundRect">
            <a:avLst>
              <a:gd name="adj" fmla="val 8000"/>
            </a:avLst>
          </a:prstGeom>
          <a:solidFill>
            <a:srgbClr val="1A212B"/>
          </a:solidFill>
          <a:ln w="12700">
            <a:solidFill>
              <a:srgbClr val="2D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5212080"/>
            <a:ext cx="42519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8B98A5"/>
                </a:solidFill>
                <a:latin typeface="Calibri"/>
              </a:rPr>
              <a:t>An engineering </a:t>
            </a:r>
            <a:r>
              <a:rPr sz="1300" b="1" i="0">
                <a:solidFill>
                  <a:srgbClr val="E6EDF3"/>
                </a:solidFill>
                <a:latin typeface="Calibri"/>
              </a:rPr>
              <a:t>scaffold, not a finished design</a:t>
            </a:r>
            <a:r>
              <a:rPr sz="1300" b="0" i="0">
                <a:solidFill>
                  <a:srgbClr val="8B98A5"/>
                </a:solidFill>
                <a:latin typeface="Calibri"/>
              </a:rPr>
              <a:t> — placeholder blocks the engineer completes. No production claims; a human stays responsible.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3737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B98A5"/>
                </a:solidFill>
                <a:latin typeface="Calibri"/>
              </a:rPr>
              <a:t>AI Circuit Architect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B98A5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6EDF3"/>
                </a:solidFill>
                <a:latin typeface="Calibri"/>
              </a:rPr>
              <a:t>AI prepares, the human decides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4F9CF9"/>
                </a:solidFill>
                <a:latin typeface="Calibri"/>
              </a:rPr>
              <a:t>You stay in control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057400"/>
            <a:ext cx="146304" cy="146304"/>
          </a:xfrm>
          <a:prstGeom prst="ellipse">
            <a:avLst/>
          </a:prstGeom>
          <a:solidFill>
            <a:srgbClr val="4F9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E6EDF3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975104"/>
            <a:ext cx="491947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6EDF3"/>
                </a:solidFill>
                <a:latin typeface="Calibri"/>
              </a:rPr>
              <a:t>Approve, re-run or stop — per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304288"/>
            <a:ext cx="4919472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8B98A5"/>
                </a:solidFill>
                <a:latin typeface="Calibri"/>
              </a:rPr>
              <a:t>Every stage is shown before the next one runs.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108960"/>
            <a:ext cx="146304" cy="146304"/>
          </a:xfrm>
          <a:prstGeom prst="ellipse">
            <a:avLst/>
          </a:prstGeom>
          <a:solidFill>
            <a:srgbClr val="4F9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E6EDF3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026664"/>
            <a:ext cx="491947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6EDF3"/>
                </a:solidFill>
                <a:latin typeface="Calibri"/>
              </a:rPr>
              <a:t>One-click or step-by-step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355848"/>
            <a:ext cx="4919472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8B98A5"/>
                </a:solidFill>
                <a:latin typeface="Calibri"/>
              </a:rPr>
              <a:t>Auto-run to watch the team, or sign off each stage yourself.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160520"/>
            <a:ext cx="146304" cy="146304"/>
          </a:xfrm>
          <a:prstGeom prst="ellipse">
            <a:avLst/>
          </a:prstGeom>
          <a:solidFill>
            <a:srgbClr val="4F9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E6EDF3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078224"/>
            <a:ext cx="491947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6EDF3"/>
                </a:solidFill>
                <a:latin typeface="Calibri"/>
              </a:rPr>
              <a:t>Audience personas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407408"/>
            <a:ext cx="4919472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8B98A5"/>
                </a:solidFill>
                <a:latin typeface="Calibri"/>
              </a:rPr>
              <a:t>Professional / Student / Maker re-tones every explanation.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41732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6EDF3"/>
                </a:solidFill>
                <a:latin typeface="Calibri"/>
              </a:rPr>
              <a:t>Built with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011680"/>
            <a:ext cx="5212080" cy="841248"/>
          </a:xfrm>
          <a:prstGeom prst="roundRect">
            <a:avLst>
              <a:gd name="adj" fmla="val 8000"/>
            </a:avLst>
          </a:prstGeom>
          <a:solidFill>
            <a:srgbClr val="1A212B"/>
          </a:solidFill>
          <a:ln w="12700">
            <a:solidFill>
              <a:srgbClr val="2D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13055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6EDF3"/>
                </a:solidFill>
                <a:latin typeface="Calibri"/>
              </a:rPr>
              <a:t>Qwen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468880"/>
            <a:ext cx="466344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B98A5"/>
                </a:solidFill>
                <a:latin typeface="Calibri"/>
              </a:rPr>
              <a:t>qwen-plus / qwen-max, OpenAI-compatible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990088"/>
            <a:ext cx="5212080" cy="841248"/>
          </a:xfrm>
          <a:prstGeom prst="roundRect">
            <a:avLst>
              <a:gd name="adj" fmla="val 8000"/>
            </a:avLst>
          </a:prstGeom>
          <a:solidFill>
            <a:srgbClr val="1A212B"/>
          </a:solidFill>
          <a:ln w="12700">
            <a:solidFill>
              <a:srgbClr val="2D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10896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6EDF3"/>
                </a:solidFill>
                <a:latin typeface="Calibri"/>
              </a:rPr>
              <a:t>FastAPI + Alpine.js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447288"/>
            <a:ext cx="466344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B98A5"/>
                </a:solidFill>
                <a:latin typeface="Calibri"/>
              </a:rPr>
              <a:t>Python backend, live single-page UI (ELK diagrams)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968496"/>
            <a:ext cx="5212080" cy="841248"/>
          </a:xfrm>
          <a:prstGeom prst="roundRect">
            <a:avLst>
              <a:gd name="adj" fmla="val 8000"/>
            </a:avLst>
          </a:prstGeom>
          <a:solidFill>
            <a:srgbClr val="1A212B"/>
          </a:solidFill>
          <a:ln w="12700">
            <a:solidFill>
              <a:srgbClr val="2D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08736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6EDF3"/>
                </a:solidFill>
                <a:latin typeface="Calibri"/>
              </a:rPr>
              <a:t>KiCad-CLI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425696"/>
            <a:ext cx="466344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B98A5"/>
                </a:solidFill>
                <a:latin typeface="Calibri"/>
              </a:rPr>
              <a:t>Real open / export / structural-ERC validation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946904"/>
            <a:ext cx="5212080" cy="841248"/>
          </a:xfrm>
          <a:prstGeom prst="roundRect">
            <a:avLst>
              <a:gd name="adj" fmla="val 8000"/>
            </a:avLst>
          </a:prstGeom>
          <a:solidFill>
            <a:srgbClr val="1A212B"/>
          </a:solidFill>
          <a:ln w="12700">
            <a:solidFill>
              <a:srgbClr val="2D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5065776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6EDF3"/>
                </a:solidFill>
                <a:latin typeface="Calibri"/>
              </a:rPr>
              <a:t>WeasyPrint · Docker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404104"/>
            <a:ext cx="466344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B98A5"/>
                </a:solidFill>
                <a:latin typeface="Calibri"/>
              </a:rPr>
              <a:t>PDF report; one-image deploy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B98A5"/>
                </a:solidFill>
                <a:latin typeface="Calibri"/>
              </a:rPr>
              <a:t>AI Circuit Architect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B98A5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6EDF3"/>
                </a:solidFill>
                <a:latin typeface="Calibri"/>
              </a:rPr>
              <a:t>Three jury criteria, one society of agents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783080"/>
            <a:ext cx="457200" cy="457200"/>
          </a:xfrm>
          <a:prstGeom prst="ellipse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0F1419"/>
                </a:solidFill>
                <a:latin typeface="Calibr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3736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6EDF3"/>
                </a:solidFill>
                <a:latin typeface="Calibri"/>
              </a:rPr>
              <a:t>Decomposition &amp;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67128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B98A5"/>
                </a:solidFill>
                <a:latin typeface="Calibri"/>
              </a:rPr>
              <a:t>Six specialist agents, each with a job and a model tier.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971800"/>
            <a:ext cx="457200" cy="457200"/>
          </a:xfrm>
          <a:prstGeom prst="ellipse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0F1419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2608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6EDF3"/>
                </a:solidFill>
                <a:latin typeface="Calibri"/>
              </a:rPr>
              <a:t>Conflict resolution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355848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B98A5"/>
                </a:solidFill>
                <a:latin typeface="Calibri"/>
              </a:rPr>
              <a:t>A real Critic → Architect rework loop, resolved in rounds.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4160520"/>
            <a:ext cx="457200" cy="457200"/>
          </a:xfrm>
          <a:prstGeom prst="ellipse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0F1419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11480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6EDF3"/>
                </a:solidFill>
                <a:latin typeface="Calibri"/>
              </a:rPr>
              <a:t>Measured efficiency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544568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B98A5"/>
                </a:solidFill>
                <a:latin typeface="Calibri"/>
              </a:rPr>
              <a:t>+3.2 coverage points over a single agent (live, 5 designs).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783080"/>
            <a:ext cx="3611880" cy="3291840"/>
          </a:xfrm>
          <a:prstGeom prst="roundRect">
            <a:avLst>
              <a:gd name="adj" fmla="val 8000"/>
            </a:avLst>
          </a:prstGeom>
          <a:solidFill>
            <a:srgbClr val="1A212B"/>
          </a:solidFill>
          <a:ln w="12700">
            <a:solidFill>
              <a:srgbClr val="2D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2240280"/>
            <a:ext cx="361188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400" b="1" i="0">
                <a:solidFill>
                  <a:srgbClr val="4F9CF9"/>
                </a:solidFill>
                <a:latin typeface="Calibri"/>
              </a:rPr>
              <a:t>+3.2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611880"/>
            <a:ext cx="324612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1400" b="0" i="0">
                <a:solidFill>
                  <a:srgbClr val="8B98A5"/>
                </a:solidFill>
                <a:latin typeface="Calibri"/>
              </a:rPr>
              <a:t>more engineering concerns surfaced — the case for a society of agents over a single model.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4F9CF9"/>
                </a:solidFill>
                <a:latin typeface="Calibri"/>
              </a:rPr>
              <a:t>From a plain-English idea to a structured KiCad start — reviewed by a society of agents.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3737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B98A5"/>
                </a:solidFill>
                <a:latin typeface="Calibri"/>
              </a:rPr>
              <a:t>AI Circuit Architect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B98A5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